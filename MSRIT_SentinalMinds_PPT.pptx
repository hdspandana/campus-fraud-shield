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74" r:id="rId2"/>
    <p:sldId id="375" r:id="rId3"/>
    <p:sldId id="257" r:id="rId4"/>
    <p:sldId id="376" r:id="rId5"/>
    <p:sldId id="377" r:id="rId6"/>
    <p:sldId id="378" r:id="rId7"/>
    <p:sldId id="379" r:id="rId8"/>
    <p:sldId id="380" r:id="rId9"/>
    <p:sldId id="382" r:id="rId10"/>
    <p:sldId id="38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422D40-C6E6-4B48-A1C5-45BCEB264084}" v="2" dt="2026-05-08T19:50:05.001"/>
    <p1510:client id="{83E4C8ED-66B1-4238-902C-A499BF810DC2}" v="1" dt="2026-05-08T19:46:38.0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91" autoAdjust="0"/>
    <p:restoredTop sz="94660"/>
  </p:normalViewPr>
  <p:slideViewPr>
    <p:cSldViewPr snapToGrid="0">
      <p:cViewPr varScale="1">
        <p:scale>
          <a:sx n="89" d="100"/>
          <a:sy n="89" d="100"/>
        </p:scale>
        <p:origin x="23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pandana h d" userId="9191919e8596f634" providerId="LiveId" clId="{A45EA9F5-1279-4ECE-BAB8-279A4E7C5BB9}"/>
    <pc:docChg chg="modSld">
      <pc:chgData name="spandana h d" userId="9191919e8596f634" providerId="LiveId" clId="{A45EA9F5-1279-4ECE-BAB8-279A4E7C5BB9}" dt="2026-05-08T19:50:04.978" v="2" actId="20577"/>
      <pc:docMkLst>
        <pc:docMk/>
      </pc:docMkLst>
      <pc:sldChg chg="modSp mod">
        <pc:chgData name="spandana h d" userId="9191919e8596f634" providerId="LiveId" clId="{A45EA9F5-1279-4ECE-BAB8-279A4E7C5BB9}" dt="2026-05-08T19:50:04.978" v="2" actId="20577"/>
        <pc:sldMkLst>
          <pc:docMk/>
          <pc:sldMk cId="1098279544" sldId="382"/>
        </pc:sldMkLst>
        <pc:spChg chg="mod">
          <ac:chgData name="spandana h d" userId="9191919e8596f634" providerId="LiveId" clId="{A45EA9F5-1279-4ECE-BAB8-279A4E7C5BB9}" dt="2026-05-08T19:50:04.978" v="2" actId="20577"/>
          <ac:spMkLst>
            <pc:docMk/>
            <pc:sldMk cId="1098279544" sldId="382"/>
            <ac:spMk id="6" creationId="{7278CCF2-C7B2-C3AF-A2EC-740A379AD0A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AFF0E-449D-426B-83E6-7E557F3BCD7F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2ADFC2-4656-49F6-8F5B-84313FD6521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12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773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4126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886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12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33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130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9535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0324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264D7-FD5D-4592-B4BA-0A1638C282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322DA6-5CC0-4908-AB19-3BCB77EFC6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F6F72-5872-4CEB-A8C1-89CFCA549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6BC3D-6474-4263-9B99-5E9D15575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2E46B-395F-44BB-A399-301BD8986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3259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59695-79A9-4446-91E3-05E7FE7A1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6FC54-E211-48A1-8BCA-378B4D4D3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25B42F-19A5-4F50-9CDF-42D673EB0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EB133-FF63-4CDE-83A1-44AF473A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A2E08C-2449-4EE7-85C3-B82B56662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120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626C4-320A-4799-9AE2-8DDE1CA6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C3420-268D-4A73-990C-4BA3150862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19061-FA9F-4CD9-8574-300E0E899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8B69E-7D13-401E-BA52-560698F83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0F2BDD-5AC8-4AE3-8868-F8CC1DA76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8694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219AC-BA64-4335-BA9B-DF3911CCE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8DA36-87D1-4E4A-8D55-031DDA3086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5276BB-4B19-4B31-A15F-D171E88D88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E846C6-E4EC-417D-8F33-F85084C30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C9D499-DC6A-4178-AFA3-2E2D44FD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19571-DCCE-45D8-8783-EA6DC03D8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19390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78171-0F87-491D-955D-347FAE8D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3EC69-5405-4A73-84BD-F54C9837D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A1D5BF-B1AE-44F7-BF58-8E4B057CD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7E8175-A0D7-4248-A114-5AC9DF5116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338F68-9ACA-4AC9-B3EC-D38E662B2A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F9F48F-32B7-4E62-920E-426CD4A43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7049EB-BDFC-47EA-9692-76B73894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F573FA-F1A3-4137-8DF6-8477A299D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6541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EC694-79DB-4363-B1A5-15A50E69F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4B602A-C477-4739-9033-AA90AEB95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E378F1-E22C-4E55-9DDB-BB46A0C14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5B7E4F-F4BD-47E4-8AF4-FE65D6600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687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180C5E-189E-4B16-8B64-6164F629D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B3E471-C627-4A6F-8940-20A4EE7AC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3B9AE-03BF-4E26-AF08-84460AF45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7498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5660-5922-4086-9079-F98C845BC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CA404-6545-4C37-A301-16A160A00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D04D32-44ED-4022-9B36-1EE734ED65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8BFFD-8B76-47E2-B9FB-5194F010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D40FA1-8D0A-4E4C-9953-054729FB8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9A4A1-B2D3-4598-9C16-19E3F974E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3538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7357B-DBC0-436F-82C9-9BE7A6D46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CAA78A-18AB-4BC5-BEFE-4D14122FCE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76BB34-FC6B-48B7-88A4-726F54735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AB742C-BF4E-4140-8947-871247A33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21326A-4386-47BF-8036-878141A47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5A690-66C4-49A2-AFF2-86E9646D8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2603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D690-141F-4B82-AAA6-311E8BB6E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5DCD3E-D233-4229-9571-4585EFE523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2A0F7-FDB1-43FF-A571-32B80EE10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B04E9-3520-49DA-836F-CFFB881FB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EC8C8B-43E3-4E78-9BFA-28431143D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45272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6DD375-6C7A-403C-8B36-D5D3CFCF0E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BF1880-F132-48C9-9D79-CA50684340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B219E-CEFA-45B4-9588-67FAD5B86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F44E2-D9AA-43EA-B93A-EEC6CDC19CD5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14DA2-B751-43ED-834C-17F142F9E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DBFD0-8FFE-4F10-9A8D-DC32F2294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72880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0540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D61A3F-7420-4211-A9AF-443ACDC04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A53A93-B55A-4668-86F8-9483DF49D6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E196E0-46F1-4FF9-A486-7116F5016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7F44E2-D9AA-43EA-B93A-EEC6CDC19CD5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E07B5-C98B-47C4-829C-B640A6AEE9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13DEB-9452-48C6-802D-EC521E6023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EC16B2-A79F-4EF3-B109-260A8C965E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5818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9x2GqE1q-aWZnfMUU94ibMMpgEZEzHUY/view?usp=drive_link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Picture 98">
            <a:extLst>
              <a:ext uri="{FF2B5EF4-FFF2-40B4-BE49-F238E27FC236}">
                <a16:creationId xmlns:a16="http://schemas.microsoft.com/office/drawing/2014/main" id="{AA78BBCF-2634-4089-8492-D8569E905F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35216" t="9860" r="35722" b="40504"/>
          <a:stretch/>
        </p:blipFill>
        <p:spPr>
          <a:xfrm>
            <a:off x="7770651" y="1479835"/>
            <a:ext cx="4421349" cy="5638238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966C81A6-8FBD-44BD-9DF5-A762864663F9}"/>
              </a:ext>
            </a:extLst>
          </p:cNvPr>
          <p:cNvSpPr txBox="1"/>
          <p:nvPr/>
        </p:nvSpPr>
        <p:spPr>
          <a:xfrm>
            <a:off x="0" y="604461"/>
            <a:ext cx="21825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Berlin Sans FB Demi" panose="020E0802020502020306" pitchFamily="34" charset="0"/>
                <a:ea typeface="SamsungOne 800" panose="020B0903030303020204" pitchFamily="34" charset="0"/>
              </a:rPr>
              <a:t>CLASH OF THE</a:t>
            </a:r>
            <a:endParaRPr lang="en-US" sz="2000" b="1" dirty="0">
              <a:solidFill>
                <a:srgbClr val="E81B25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2DB02A4-569F-4135-9840-A60286D3E03F}"/>
              </a:ext>
            </a:extLst>
          </p:cNvPr>
          <p:cNvSpPr txBox="1"/>
          <p:nvPr/>
        </p:nvSpPr>
        <p:spPr>
          <a:xfrm>
            <a:off x="1756232" y="436120"/>
            <a:ext cx="209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CLAWS</a:t>
            </a:r>
            <a:endParaRPr lang="en-IN" sz="3600" dirty="0">
              <a:latin typeface="Berlin Sans FB Demi" panose="020E0802020502020306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D060EA0-A6D1-484F-8987-38123CE63233}"/>
              </a:ext>
            </a:extLst>
          </p:cNvPr>
          <p:cNvSpPr txBox="1"/>
          <p:nvPr/>
        </p:nvSpPr>
        <p:spPr>
          <a:xfrm>
            <a:off x="351459" y="1421447"/>
            <a:ext cx="8475299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MS RAMAIAH INSTITUTE OF TECHNOLOGY </a:t>
            </a:r>
          </a:p>
          <a:p>
            <a:pPr algn="ctr"/>
            <a:r>
              <a:rPr lang="en-US" sz="3200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&lt;</a:t>
            </a:r>
            <a:r>
              <a:rPr lang="en-US" sz="3200" b="1" dirty="0" err="1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Sentinal</a:t>
            </a:r>
            <a:r>
              <a:rPr lang="en-US" sz="3200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 minds&gt; </a:t>
            </a:r>
          </a:p>
          <a:p>
            <a:pPr algn="ctr"/>
            <a:endParaRPr lang="en-US" sz="3200" b="1" dirty="0">
              <a:solidFill>
                <a:srgbClr val="E81B25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  <a:p>
            <a:pPr algn="ctr"/>
            <a:r>
              <a:rPr lang="en-US" sz="3200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“Because one wrong click can cost a semester’s savings.”</a:t>
            </a:r>
          </a:p>
          <a:p>
            <a:pPr algn="ctr"/>
            <a:endParaRPr lang="en-US" sz="2800" b="1" dirty="0">
              <a:solidFill>
                <a:schemeClr val="tx2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  <a:p>
            <a:pPr algn="ctr"/>
            <a:r>
              <a:rPr lang="en-US" sz="2800" b="1" dirty="0">
                <a:solidFill>
                  <a:schemeClr val="tx2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                 H D Spandana,1MS24CY022</a:t>
            </a:r>
          </a:p>
          <a:p>
            <a:pPr algn="ctr"/>
            <a:r>
              <a:rPr lang="en-US" sz="2800" b="1" dirty="0">
                <a:solidFill>
                  <a:schemeClr val="tx2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           Aksha K V ,1MS25CY402</a:t>
            </a:r>
          </a:p>
          <a:p>
            <a:pPr algn="ctr"/>
            <a:r>
              <a:rPr lang="en-US" sz="2800" b="1" dirty="0">
                <a:solidFill>
                  <a:schemeClr val="tx2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  <a:t>            Padma Ladol,1MS24CS118</a:t>
            </a:r>
            <a:br>
              <a:rPr lang="en-US" sz="4000" b="1" dirty="0">
                <a:solidFill>
                  <a:schemeClr val="tx2"/>
                </a:solidFill>
                <a:latin typeface="Berlin Sans FB Demi" panose="020E0802020502020306" pitchFamily="34" charset="0"/>
                <a:ea typeface="SamsungOne 800" panose="020B0903030303020204" pitchFamily="34" charset="0"/>
              </a:rPr>
            </a:br>
            <a:endParaRPr lang="en-US" sz="4000" b="1" dirty="0">
              <a:solidFill>
                <a:schemeClr val="tx2"/>
              </a:solidFill>
              <a:latin typeface="Berlin Sans FB Demi" panose="020E0802020502020306" pitchFamily="34" charset="0"/>
              <a:ea typeface="SamsungOne 800" panose="020B0903030303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263B24E-BBCD-4BAC-9AEF-81547E82C9E5}"/>
              </a:ext>
            </a:extLst>
          </p:cNvPr>
          <p:cNvGrpSpPr/>
          <p:nvPr/>
        </p:nvGrpSpPr>
        <p:grpSpPr>
          <a:xfrm>
            <a:off x="137355" y="46746"/>
            <a:ext cx="3814159" cy="639045"/>
            <a:chOff x="137355" y="133834"/>
            <a:chExt cx="3814159" cy="639045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3C9D2D8C-378C-4311-B59D-9891D5378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355" y="133834"/>
              <a:ext cx="974396" cy="639045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AA001E0-3B05-4E97-9F59-DA7472558885}"/>
                </a:ext>
              </a:extLst>
            </p:cNvPr>
            <p:cNvSpPr txBox="1"/>
            <p:nvPr/>
          </p:nvSpPr>
          <p:spPr>
            <a:xfrm>
              <a:off x="1017814" y="244337"/>
              <a:ext cx="29337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Berlin Sans FB Demi" panose="020E0802020502020306" pitchFamily="34" charset="0"/>
                  <a:ea typeface="SamsungOne 800" panose="020B0903030303020204" pitchFamily="34" charset="0"/>
                </a:rPr>
                <a:t>| Tech Management, SRI-B</a:t>
              </a:r>
              <a:endParaRPr lang="en-US" b="1" dirty="0">
                <a:solidFill>
                  <a:srgbClr val="E81B25"/>
                </a:solidFill>
                <a:latin typeface="Berlin Sans FB Demi" panose="020E0802020502020306" pitchFamily="34" charset="0"/>
                <a:ea typeface="SamsungOne 800" panose="020B09030303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4731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609600" y="1633728"/>
            <a:ext cx="946719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YOUR PHONE. THEIR TARGET.</a:t>
            </a:r>
          </a:p>
          <a:p>
            <a:endParaRPr lang="en-IN" dirty="0"/>
          </a:p>
          <a:p>
            <a:r>
              <a:rPr lang="en-IN" dirty="0"/>
              <a:t>Indian students receive scams like: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“Pay ₹999 to confirm your </a:t>
            </a:r>
            <a:r>
              <a:rPr lang="en-IN" dirty="0" err="1"/>
              <a:t>Internshala</a:t>
            </a:r>
            <a:r>
              <a:rPr lang="en-IN" dirty="0"/>
              <a:t> internship”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“You won ₹25 lakh in KBC! Share your OTP”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“NSP scholarship approved — pay ₹500 fee”</a:t>
            </a:r>
          </a:p>
          <a:p>
            <a:endParaRPr lang="en-IN" dirty="0"/>
          </a:p>
          <a:p>
            <a:r>
              <a:rPr lang="en-IN" dirty="0"/>
              <a:t>THE REALITY</a:t>
            </a:r>
          </a:p>
          <a:p>
            <a:r>
              <a:rPr lang="en-IN" dirty="0"/>
              <a:t> 77% of cyber fraud victims in India are aged 18–35</a:t>
            </a:r>
          </a:p>
          <a:p>
            <a:r>
              <a:rPr lang="en-IN" dirty="0"/>
              <a:t>Average student loss: ₹3,200–₹8,000</a:t>
            </a:r>
          </a:p>
          <a:p>
            <a:endParaRPr lang="en-IN" dirty="0"/>
          </a:p>
          <a:p>
            <a:r>
              <a:rPr lang="en-IN" dirty="0"/>
              <a:t>THE PROBLEM</a:t>
            </a:r>
          </a:p>
          <a:p>
            <a:r>
              <a:rPr lang="en-IN" dirty="0"/>
              <a:t> Generic spam filters don’t understand Indian student scams.</a:t>
            </a:r>
          </a:p>
          <a:p>
            <a:r>
              <a:rPr lang="en-IN" dirty="0"/>
              <a:t>They miss fake internship, scholarship, and UPI frauds.</a:t>
            </a:r>
          </a:p>
          <a:p>
            <a:r>
              <a:rPr lang="en-IN" dirty="0"/>
              <a:t>🛡️ Campus Fraud Shield changes that..</a:t>
            </a:r>
          </a:p>
        </p:txBody>
      </p:sp>
    </p:spTree>
    <p:extLst>
      <p:ext uri="{BB962C8B-B14F-4D97-AF65-F5344CB8AC3E}">
        <p14:creationId xmlns:p14="http://schemas.microsoft.com/office/powerpoint/2010/main" val="1451803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41650" y="652026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Current Solution &amp; Gaps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756C8D-CC3D-5DBD-C809-4BF13828C820}"/>
              </a:ext>
            </a:extLst>
          </p:cNvPr>
          <p:cNvSpPr txBox="1"/>
          <p:nvPr/>
        </p:nvSpPr>
        <p:spPr>
          <a:xfrm>
            <a:off x="357674" y="1461472"/>
            <a:ext cx="780288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🛡️ CAMPUS FRAUD SHIELD</a:t>
            </a:r>
          </a:p>
          <a:p>
            <a:r>
              <a:rPr lang="en-IN" dirty="0"/>
              <a:t>"Not a spam filter. A student's second opinion."</a:t>
            </a:r>
          </a:p>
          <a:p>
            <a:endParaRPr lang="en-IN" dirty="0"/>
          </a:p>
          <a:p>
            <a:r>
              <a:rPr lang="en-IN" dirty="0"/>
              <a:t>CURRENT SOLUTIONS &amp; GAPS</a:t>
            </a:r>
          </a:p>
          <a:p>
            <a:r>
              <a:rPr lang="en-IN" dirty="0"/>
              <a:t>Gmail Spam     → Email only, misses WhatsApp</a:t>
            </a:r>
          </a:p>
          <a:p>
            <a:r>
              <a:rPr lang="en-IN" dirty="0" err="1"/>
              <a:t>Truecaller</a:t>
            </a:r>
            <a:r>
              <a:rPr lang="en-IN" dirty="0"/>
              <a:t>        → Flags numbers, can't read messages</a:t>
            </a:r>
          </a:p>
          <a:p>
            <a:r>
              <a:rPr lang="en-IN" dirty="0"/>
              <a:t>Bank Alerts      → Triggers AFTER money is gone</a:t>
            </a:r>
          </a:p>
          <a:p>
            <a:endParaRPr lang="en-IN" dirty="0"/>
          </a:p>
          <a:p>
            <a:r>
              <a:rPr lang="en-IN" dirty="0"/>
              <a:t>All fail because: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Don't know Indian platforms (</a:t>
            </a:r>
            <a:r>
              <a:rPr lang="en-IN" dirty="0" err="1"/>
              <a:t>Internshala</a:t>
            </a:r>
            <a:r>
              <a:rPr lang="en-IN" dirty="0"/>
              <a:t>, NSP, KBC)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Don't explain WHY or say WHAT to do next</a:t>
            </a:r>
          </a:p>
          <a:p>
            <a:endParaRPr lang="en-IN" dirty="0"/>
          </a:p>
          <a:p>
            <a:r>
              <a:rPr lang="en-IN" dirty="0"/>
              <a:t>OUR FIX</a:t>
            </a:r>
          </a:p>
          <a:p>
            <a:r>
              <a:rPr lang="en-IN" dirty="0"/>
              <a:t>Paste message → SCAM / SUSPICIOUS / SAFE</a:t>
            </a:r>
          </a:p>
          <a:p>
            <a:r>
              <a:rPr lang="en-IN" dirty="0"/>
              <a:t>             + WHY flagged</a:t>
            </a:r>
          </a:p>
          <a:p>
            <a:r>
              <a:rPr lang="en-IN" dirty="0"/>
              <a:t>             + WHAT to do next</a:t>
            </a:r>
          </a:p>
          <a:p>
            <a:r>
              <a:rPr lang="en-IN" dirty="0"/>
              <a:t>             + Complaint text ready to copy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68694" y="694944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Your Solutions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605246" y="1548384"/>
            <a:ext cx="1076414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🛡️ WHAT WE BUILT</a:t>
            </a:r>
          </a:p>
          <a:p>
            <a:endParaRPr lang="en-IN" dirty="0"/>
          </a:p>
          <a:p>
            <a:r>
              <a:rPr lang="en-IN" dirty="0"/>
              <a:t>CORE IDEA</a:t>
            </a:r>
          </a:p>
          <a:p>
            <a:r>
              <a:rPr lang="en-IN" dirty="0"/>
              <a:t>An AI-powered scam detection tool built specifically for Indian college students.</a:t>
            </a:r>
          </a:p>
          <a:p>
            <a:endParaRPr lang="en-IN" dirty="0"/>
          </a:p>
          <a:p>
            <a:r>
              <a:rPr lang="en-IN" dirty="0"/>
              <a:t>Paste any suspicious message →get an instant verdict with reasoning and action steps — before money is lost.</a:t>
            </a:r>
          </a:p>
          <a:p>
            <a:endParaRPr lang="en-IN" dirty="0"/>
          </a:p>
          <a:p>
            <a:r>
              <a:rPr lang="en-IN" dirty="0"/>
              <a:t>💡 KEY FEATURES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4-Engine Detection    → Rules + Domain + AI + History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🇮🇳 India Knowledge    → </a:t>
            </a:r>
            <a:r>
              <a:rPr lang="en-IN" dirty="0" err="1"/>
              <a:t>Internshala</a:t>
            </a:r>
            <a:r>
              <a:rPr lang="en-IN" dirty="0"/>
              <a:t>, NSP, KBC, SBI baked 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Smart Uncertainty      → Won't guess when unsure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Override Logic        → OTP request = SCAM, always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Action Ready         → Complaint text auto-generated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Zero Friction         → No login · No install · Free</a:t>
            </a:r>
          </a:p>
        </p:txBody>
      </p:sp>
    </p:spTree>
    <p:extLst>
      <p:ext uri="{BB962C8B-B14F-4D97-AF65-F5344CB8AC3E}">
        <p14:creationId xmlns:p14="http://schemas.microsoft.com/office/powerpoint/2010/main" val="1005258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63420" y="619277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Demo/Product Walkthrough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702870" y="1371600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5C1E9D-1F98-4CDB-8C10-EACE322B205B}"/>
              </a:ext>
            </a:extLst>
          </p:cNvPr>
          <p:cNvSpPr txBox="1"/>
          <p:nvPr/>
        </p:nvSpPr>
        <p:spPr>
          <a:xfrm>
            <a:off x="286138" y="1379411"/>
            <a:ext cx="12714514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PRODUCT WALKTHROUGH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STEP 1 — PASTE</a:t>
            </a:r>
          </a:p>
          <a:p>
            <a:r>
              <a:rPr lang="en-IN" dirty="0"/>
              <a:t>Copy any suspicious WhatsApp / SMS / email and paste it into the text box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STEP 2 — SCAN</a:t>
            </a:r>
          </a:p>
          <a:p>
            <a:r>
              <a:rPr lang="en-IN" dirty="0"/>
              <a:t>Hit "Check Message" — all 4 engines run simultaneously in under 3 seconds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STEP 3 — VERDICT</a:t>
            </a:r>
          </a:p>
          <a:p>
            <a:r>
              <a:rPr lang="en-IN" dirty="0"/>
              <a:t>Get instant result →  SCAM /  SUSPICIOUS /  SAFE + confidence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STEP 4 — UNDERSTAND</a:t>
            </a:r>
          </a:p>
          <a:p>
            <a:r>
              <a:rPr lang="en-IN" dirty="0"/>
              <a:t>Plain English reason — "</a:t>
            </a:r>
            <a:r>
              <a:rPr lang="en-IN" dirty="0" err="1"/>
              <a:t>Internshala</a:t>
            </a:r>
            <a:r>
              <a:rPr lang="en-IN" dirty="0"/>
              <a:t> never charges a registration fee to apply"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STEP 5 — ACT</a:t>
            </a:r>
          </a:p>
          <a:p>
            <a:r>
              <a:rPr lang="en-IN" dirty="0"/>
              <a:t>Step-by-step actions + who to call (1930) + complaint text pre-written to copy</a:t>
            </a:r>
          </a:p>
          <a:p>
            <a:endParaRPr lang="en-IN" dirty="0"/>
          </a:p>
          <a:p>
            <a:r>
              <a:rPr lang="en-IN" dirty="0"/>
              <a:t>KEY MOMENTS</a:t>
            </a:r>
          </a:p>
          <a:p>
            <a:r>
              <a:rPr lang="en-IN" dirty="0"/>
              <a:t> OTP request detected          → Instantly forced to SCAM, no math needed</a:t>
            </a:r>
          </a:p>
          <a:p>
            <a:r>
              <a:rPr lang="en-IN" dirty="0"/>
              <a:t> Fee demand + UPI number found → Score pushed to high-risk zone automatically</a:t>
            </a:r>
          </a:p>
          <a:p>
            <a:r>
              <a:rPr lang="en-IN" dirty="0"/>
              <a:t>Confidence score 40–65%       → Shows “. Uncertain — please verify manually"</a:t>
            </a:r>
          </a:p>
          <a:p>
            <a:r>
              <a:rPr lang="en-IN" dirty="0"/>
              <a:t> Toggle button          → Switch between student view and technical view</a:t>
            </a:r>
          </a:p>
          <a:p>
            <a:r>
              <a:rPr lang="en-IN" dirty="0"/>
              <a:t>🌐 campus-fraud-</a:t>
            </a:r>
            <a:r>
              <a:rPr lang="en-IN" dirty="0" err="1"/>
              <a:t>shield.streamlit.app</a:t>
            </a:r>
            <a:r>
              <a:rPr lang="en-IN" dirty="0"/>
              <a:t> — No login · No install · Just paste &amp; scan</a:t>
            </a:r>
          </a:p>
        </p:txBody>
      </p:sp>
    </p:spTree>
    <p:extLst>
      <p:ext uri="{BB962C8B-B14F-4D97-AF65-F5344CB8AC3E}">
        <p14:creationId xmlns:p14="http://schemas.microsoft.com/office/powerpoint/2010/main" val="452960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00933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Architecture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473018" y="1494474"/>
            <a:ext cx="1110938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TECH STACK</a:t>
            </a:r>
          </a:p>
          <a:p>
            <a:endParaRPr lang="en-IN" dirty="0"/>
          </a:p>
          <a:p>
            <a:r>
              <a:rPr lang="en-IN" dirty="0"/>
              <a:t>UI                   </a:t>
            </a:r>
            <a:r>
              <a:rPr lang="en-IN" dirty="0" err="1"/>
              <a:t>Streamlit</a:t>
            </a:r>
            <a:r>
              <a:rPr lang="en-IN" dirty="0"/>
              <a:t> 1.45           Browser app, zero install</a:t>
            </a:r>
          </a:p>
          <a:p>
            <a:r>
              <a:rPr lang="en-IN" dirty="0"/>
              <a:t>AI Model       all-MiniLM-L6-v2      Sentence embeddings (384-dim)</a:t>
            </a:r>
          </a:p>
          <a:p>
            <a:r>
              <a:rPr lang="en-IN" dirty="0"/>
              <a:t>Classifier       Logistic Regression   Trained on 120+ scam messages</a:t>
            </a:r>
          </a:p>
          <a:p>
            <a:r>
              <a:rPr lang="en-IN" dirty="0"/>
              <a:t>Vector DB     FAISS (CPU)               Matches against 300+ scam reports</a:t>
            </a:r>
          </a:p>
          <a:p>
            <a:r>
              <a:rPr lang="en-IN" dirty="0"/>
              <a:t>URL Check    </a:t>
            </a:r>
            <a:r>
              <a:rPr lang="en-IN" dirty="0" err="1"/>
              <a:t>tldextract</a:t>
            </a:r>
            <a:r>
              <a:rPr lang="en-IN" dirty="0"/>
              <a:t>                  Detects fake domains &amp; spoofing</a:t>
            </a:r>
          </a:p>
          <a:p>
            <a:r>
              <a:rPr lang="en-IN" dirty="0"/>
              <a:t>Storage          SQLite                        Local DB, no external dependency</a:t>
            </a:r>
          </a:p>
          <a:p>
            <a:r>
              <a:rPr lang="en-IN" dirty="0"/>
              <a:t>Deploy           </a:t>
            </a:r>
            <a:r>
              <a:rPr lang="en-IN" dirty="0" err="1"/>
              <a:t>Streamlit</a:t>
            </a:r>
            <a:r>
              <a:rPr lang="en-IN" dirty="0"/>
              <a:t> Cloud       Free, one-click deployment</a:t>
            </a:r>
          </a:p>
          <a:p>
            <a:endParaRPr lang="en-IN" dirty="0"/>
          </a:p>
          <a:p>
            <a:r>
              <a:rPr lang="en-IN" dirty="0"/>
              <a:t>SYSTEM FLOW</a:t>
            </a:r>
          </a:p>
          <a:p>
            <a:r>
              <a:rPr lang="en-IN" dirty="0"/>
              <a:t>──────────────────────────────────────────────────────</a:t>
            </a:r>
          </a:p>
          <a:p>
            <a:r>
              <a:rPr lang="en-IN" dirty="0"/>
              <a:t>User pastes message</a:t>
            </a:r>
          </a:p>
          <a:p>
            <a:r>
              <a:rPr lang="en-IN" dirty="0"/>
              <a:t>    → Rules Engine + Domain Checker + Semantic AI + FAISS</a:t>
            </a:r>
          </a:p>
          <a:p>
            <a:r>
              <a:rPr lang="en-IN" dirty="0"/>
              <a:t>    → Weighted Score (0.35 + 0.30 + 0.20 + 0.15)</a:t>
            </a:r>
          </a:p>
          <a:p>
            <a:r>
              <a:rPr lang="en-IN" dirty="0"/>
              <a:t>    → Verdict + Explanation + Action Steps</a:t>
            </a:r>
          </a:p>
          <a:p>
            <a:r>
              <a:rPr lang="en-IN" dirty="0"/>
              <a:t>──────────────────────────────────────────────────────</a:t>
            </a:r>
          </a:p>
          <a:p>
            <a:r>
              <a:rPr lang="en-IN" dirty="0"/>
              <a:t>Cost: Rs.0   |   Response: &lt;3s   |   Accuracy: ~94%</a:t>
            </a:r>
          </a:p>
        </p:txBody>
      </p:sp>
    </p:spTree>
    <p:extLst>
      <p:ext uri="{BB962C8B-B14F-4D97-AF65-F5344CB8AC3E}">
        <p14:creationId xmlns:p14="http://schemas.microsoft.com/office/powerpoint/2010/main" val="56678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 cases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421363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DB0243-BB37-4E48-8F2A-F31495290DC7}"/>
              </a:ext>
            </a:extLst>
          </p:cNvPr>
          <p:cNvSpPr txBox="1"/>
          <p:nvPr/>
        </p:nvSpPr>
        <p:spPr>
          <a:xfrm>
            <a:off x="528301" y="1717704"/>
            <a:ext cx="1064771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REAL-LIFE SCENARIOS</a:t>
            </a:r>
          </a:p>
          <a:p>
            <a:r>
              <a:rPr lang="en-IN" dirty="0"/>
              <a:t>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r>
              <a:rPr lang="en-IN" dirty="0"/>
              <a:t>1. FAKE INTERNSHIP    Riya gets "Pay ₹999 to confirm </a:t>
            </a:r>
            <a:r>
              <a:rPr lang="en-IN" dirty="0" err="1"/>
              <a:t>Internshala</a:t>
            </a:r>
            <a:r>
              <a:rPr lang="en-IN" dirty="0"/>
              <a:t> slot"            → SCAM flagged → Saved ₹999</a:t>
            </a:r>
          </a:p>
          <a:p>
            <a:r>
              <a:rPr lang="en-IN" dirty="0"/>
              <a:t>2. OTP THEFT          Arjun gets "Share OTP to unblock your SBI account"          → Instant override → Saved bank account</a:t>
            </a:r>
          </a:p>
          <a:p>
            <a:r>
              <a:rPr lang="en-IN" dirty="0"/>
              <a:t>3. FAKE SCHOLARSHIP   Priya gets "NSP approved ₹50,000 — pay ₹500 fee"           → SCAM flagged → Saved ₹500</a:t>
            </a:r>
          </a:p>
          <a:p>
            <a:r>
              <a:rPr lang="en-IN" dirty="0"/>
              <a:t>4. PART-TIME SCAM     Rahul gets "Earn ₹500/hr liking videos — pay ₹999 to join" → SCAM detected → Saved ₹999</a:t>
            </a:r>
          </a:p>
          <a:p>
            <a:endParaRPr lang="en-IN" dirty="0"/>
          </a:p>
          <a:p>
            <a:r>
              <a:rPr lang="en-IN" dirty="0"/>
              <a:t>SCALE POTENTIAL</a:t>
            </a:r>
          </a:p>
          <a:p>
            <a:endParaRPr lang="en-IN" dirty="0"/>
          </a:p>
          <a:p>
            <a:r>
              <a:rPr lang="en-IN" dirty="0"/>
              <a:t>1 college → 5,000 protected     |     10 colleges → 50,000 protected     |     100 colleges → 500,000 protected</a:t>
            </a:r>
          </a:p>
          <a:p>
            <a:r>
              <a:rPr lang="en-IN" dirty="0"/>
              <a:t>Cost at any scale = Rs.0   |   No infrastructure needed   |   Serverless deployment</a:t>
            </a:r>
          </a:p>
        </p:txBody>
      </p:sp>
    </p:spTree>
    <p:extLst>
      <p:ext uri="{BB962C8B-B14F-4D97-AF65-F5344CB8AC3E}">
        <p14:creationId xmlns:p14="http://schemas.microsoft.com/office/powerpoint/2010/main" val="2277358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03196D-2878-F1F6-57F1-F08DF941677F}"/>
              </a:ext>
            </a:extLst>
          </p:cNvPr>
          <p:cNvSpPr txBox="1"/>
          <p:nvPr/>
        </p:nvSpPr>
        <p:spPr>
          <a:xfrm>
            <a:off x="541175" y="1395928"/>
            <a:ext cx="8481809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WHY CAMPUS FRAUD SHIELD STANDS OUT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MOAT 1 — INDIA-SPECIFIC CAMPUS KNOWLEDGE LAYER</a:t>
            </a:r>
          </a:p>
          <a:p>
            <a:r>
              <a:rPr lang="en-IN" dirty="0"/>
              <a:t>No generic AI knows that </a:t>
            </a:r>
            <a:r>
              <a:rPr lang="en-IN" dirty="0" err="1"/>
              <a:t>Internshala</a:t>
            </a:r>
            <a:r>
              <a:rPr lang="en-IN" dirty="0"/>
              <a:t> never charges fees, NSP caps at ₹25,000,</a:t>
            </a:r>
          </a:p>
          <a:p>
            <a:r>
              <a:rPr lang="en-IN" dirty="0"/>
              <a:t>or that KBC never contacts winners on WhatsApp. We hardcoded 25+ verified</a:t>
            </a:r>
          </a:p>
          <a:p>
            <a:r>
              <a:rPr lang="en-IN" dirty="0"/>
              <a:t>Indian institutions — this knowledge cannot be replicated by a simple prompt</a:t>
            </a:r>
          </a:p>
          <a:p>
            <a:r>
              <a:rPr lang="en-IN" dirty="0"/>
              <a:t>or a global spam filter. It takes research, curation, and domain expertise.</a:t>
            </a:r>
          </a:p>
          <a:p>
            <a:r>
              <a:rPr lang="en-IN" dirty="0"/>
              <a:t>Generic AI sees → "Pay fee to confirm internship" → Maybe spam</a:t>
            </a:r>
          </a:p>
          <a:p>
            <a:r>
              <a:rPr lang="en-IN" dirty="0"/>
              <a:t>We see          → "Pay fee on </a:t>
            </a:r>
            <a:r>
              <a:rPr lang="en-IN" dirty="0" err="1"/>
              <a:t>Internshala</a:t>
            </a:r>
            <a:r>
              <a:rPr lang="en-IN" dirty="0"/>
              <a:t>"        → SCAM. Always.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MOAT 2 — COMMUNITY-POWERED FAISS DATABASE THAT GROWS OVER TIME</a:t>
            </a:r>
          </a:p>
          <a:p>
            <a:r>
              <a:rPr lang="en-IN" dirty="0"/>
              <a:t>Every scam reported by a student gets added to our FAISS vector database.</a:t>
            </a:r>
          </a:p>
          <a:p>
            <a:r>
              <a:rPr lang="en-IN" dirty="0"/>
              <a:t>The more students use it, the smarter it gets. Competitors start from zero.</a:t>
            </a:r>
          </a:p>
          <a:p>
            <a:r>
              <a:rPr lang="en-IN" dirty="0"/>
              <a:t>We start from every scam already reported — and compound over time.</a:t>
            </a:r>
          </a:p>
          <a:p>
            <a:r>
              <a:rPr lang="en-IN" dirty="0"/>
              <a:t>Day 1   →  300+ scam patterns</a:t>
            </a:r>
          </a:p>
          <a:p>
            <a:r>
              <a:rPr lang="en-IN" dirty="0"/>
              <a:t>6 months →  thousands of real crowdsourced reports</a:t>
            </a:r>
          </a:p>
          <a:p>
            <a:r>
              <a:rPr lang="en-IN" dirty="0"/>
              <a:t>1 year   →  the largest India-specific student scam database</a:t>
            </a:r>
          </a:p>
          <a:p>
            <a:r>
              <a:rPr lang="en-IN" dirty="0"/>
              <a:t>RESULT — A generic AI can be built in a weekend. Our moat cannot be copied overnight.</a:t>
            </a:r>
          </a:p>
        </p:txBody>
      </p:sp>
    </p:spTree>
    <p:extLst>
      <p:ext uri="{BB962C8B-B14F-4D97-AF65-F5344CB8AC3E}">
        <p14:creationId xmlns:p14="http://schemas.microsoft.com/office/powerpoint/2010/main" val="17464258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670560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Demo Link</a:t>
            </a:r>
            <a:endParaRPr lang="en-US" sz="4267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78CCF2-C7B2-C3AF-A2EC-740A379AD0A1}"/>
              </a:ext>
            </a:extLst>
          </p:cNvPr>
          <p:cNvSpPr txBox="1"/>
          <p:nvPr/>
        </p:nvSpPr>
        <p:spPr>
          <a:xfrm>
            <a:off x="424855" y="1433769"/>
            <a:ext cx="917199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LINKS &amp; RESOURCES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LIVE DEMO        → </a:t>
            </a:r>
            <a:r>
              <a:rPr lang="en-IN" dirty="0">
                <a:hlinkClick r:id="rId3"/>
              </a:rPr>
              <a:t>https://drive.google.com/file/d/19x2GqE1q-aWZnfMUU94ibMMpgEZEzHUY/view?usp=drive_link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GITHUB REPO      →github.com/</a:t>
            </a:r>
            <a:r>
              <a:rPr lang="en-IN" dirty="0" err="1"/>
              <a:t>hdspandana</a:t>
            </a:r>
            <a:r>
              <a:rPr lang="en-IN" dirty="0"/>
              <a:t>/Campus-Fraud-</a:t>
            </a:r>
            <a:r>
              <a:rPr lang="en-IN" dirty="0" err="1"/>
              <a:t>Shield.git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DOCUMENT         →   https://campus-fraud-shield-indozz3ascav9w7pyysyvc.streamlit.app/</a:t>
            </a:r>
          </a:p>
          <a:p>
            <a:endParaRPr lang="en-IN" dirty="0"/>
          </a:p>
          <a:p>
            <a:r>
              <a:rPr lang="en-IN" dirty="0"/>
              <a:t>WHAT TO DO</a:t>
            </a:r>
          </a:p>
          <a:p>
            <a:r>
              <a:rPr lang="en-IN" dirty="0"/>
              <a:t>LIVE DEMO       Open the link → Paste any suspicious message → See it in action</a:t>
            </a:r>
          </a:p>
          <a:p>
            <a:r>
              <a:rPr lang="en-IN" dirty="0"/>
              <a:t>GITHUB EPO     See full source code, project structure, dataset and model files</a:t>
            </a:r>
          </a:p>
          <a:p>
            <a:r>
              <a:rPr lang="en-IN" dirty="0"/>
              <a:t>DOCUMENT        Read detailed architecture, methodology and future roadmap</a:t>
            </a:r>
          </a:p>
          <a:p>
            <a:endParaRPr lang="en-IN" dirty="0"/>
          </a:p>
          <a:p>
            <a:r>
              <a:rPr lang="en-IN" dirty="0"/>
              <a:t>📞  Cyber Crime Helpline  →  1930 (24x7)     |     🌐  cybercrime.gov.in</a:t>
            </a:r>
          </a:p>
          <a:p>
            <a:r>
              <a:rPr lang="en-IN" dirty="0"/>
              <a:t>           One scan. One less victim.</a:t>
            </a:r>
          </a:p>
        </p:txBody>
      </p:sp>
    </p:spTree>
    <p:extLst>
      <p:ext uri="{BB962C8B-B14F-4D97-AF65-F5344CB8AC3E}">
        <p14:creationId xmlns:p14="http://schemas.microsoft.com/office/powerpoint/2010/main" val="1098279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94675"/>
            <a:ext cx="12192000" cy="8534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219456"/>
            <a:ext cx="1950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</a:rPr>
              <a:t>Idea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3246081" y="2903492"/>
            <a:ext cx="1097280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THANK YOU.</a:t>
            </a:r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0488D4E-8E6D-456D-9B00-8A96881B3AC1}"/>
              </a:ext>
            </a:extLst>
          </p:cNvPr>
          <p:cNvSpPr/>
          <p:nvPr/>
        </p:nvSpPr>
        <p:spPr>
          <a:xfrm>
            <a:off x="5852160" y="1395928"/>
            <a:ext cx="512064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66" dirty="0"/>
          </a:p>
        </p:txBody>
      </p:sp>
    </p:spTree>
    <p:extLst>
      <p:ext uri="{BB962C8B-B14F-4D97-AF65-F5344CB8AC3E}">
        <p14:creationId xmlns:p14="http://schemas.microsoft.com/office/powerpoint/2010/main" val="2308232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1107</Words>
  <Application>Microsoft Office PowerPoint</Application>
  <PresentationFormat>Widescreen</PresentationFormat>
  <Paragraphs>165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Berlin Sans FB Demi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Prakhar Chandrakar ./PRISM /SRI-Bangalore/Professional/Samsung Electronics</dc:creator>
  <cp:lastModifiedBy>spandana h d</cp:lastModifiedBy>
  <cp:revision>8</cp:revision>
  <dcterms:created xsi:type="dcterms:W3CDTF">2026-04-27T09:11:02Z</dcterms:created>
  <dcterms:modified xsi:type="dcterms:W3CDTF">2026-05-08T19:50:12Z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